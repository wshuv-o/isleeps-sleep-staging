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F5C8A"/>
                </a:solidFill>
              </a:rPr>
              <a:t>A Physiologically Interpretable Multimodal Model for Joint Sleep Staging and Respiratory-Event Detection in Subacute Ischemic Stroke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A1A1A"/>
                </a:solidFill>
              </a:rPr>
              <a:t>Md Wahiduzzaman Suva, Esm-e Moula Chowdhury Abha, Md Imtiaj Alam Sajin, Md Iftekharul Mobin
Department of Computer Science and Engineering, American International University-Bangladesh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Automated sleep staging is mature on healthy sleepers</a:t>
            </a:r>
            <a:r>
              <a:rPr sz="1800" b="0">
                <a:solidFill>
                  <a:srgbClr val="1A1A1A"/>
                </a:solidFill>
              </a:rPr>
              <a:t> (about 85% accuracy) but degrades sharply in focal brain injury.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A polysomnogram records the whole body</a:t>
            </a:r>
            <a:r>
              <a:rPr sz="1800" b="0">
                <a:solidFill>
                  <a:srgbClr val="1A1A1A"/>
                </a:solidFill>
              </a:rPr>
              <a:t>: EEG, eye movements, muscle tone, ECG, airflow, respiratory effort, and oxygen saturation.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In subacute stroke, sleep-disordered breathing is common</a:t>
            </a:r>
            <a:r>
              <a:rPr sz="1800" b="0">
                <a:solidFill>
                  <a:srgbClr val="1A1A1A"/>
                </a:solidFill>
              </a:rPr>
              <a:t> and is tied to functional recovery; the cardiorespiratory channels carry the disease itself.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We build one model that reads the full polysomnogram</a:t>
            </a:r>
            <a:r>
              <a:rPr sz="1800" b="0">
                <a:solidFill>
                  <a:srgbClr val="1A1A1A"/>
                </a:solidFill>
              </a:rPr>
              <a:t> and produces two clinical outputs from a single pass: the sleep stage and a per-epoch respiratory-event label.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The question is not another staging record</a:t>
            </a:r>
            <a:r>
              <a:rPr sz="1800" b="0">
                <a:solidFill>
                  <a:srgbClr val="1A1A1A"/>
                </a:solidFill>
              </a:rPr>
              <a:t> but what the whole recording buys, and on which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iSLEEPS</a:t>
            </a:r>
            <a:r>
              <a:rPr sz="1800" b="0">
                <a:solidFill>
                  <a:srgbClr val="1A1A1A"/>
                </a:solidFill>
              </a:rPr>
              <a:t> is the first public polysomnography corpus of subacute ischemic stroke (NIMHANS, 100 patients).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We use 96 patients</a:t>
            </a:r>
            <a:r>
              <a:rPr sz="1800" b="0">
                <a:solidFill>
                  <a:srgbClr val="1A1A1A"/>
                </a:solidFill>
              </a:rPr>
              <a:t> (SN28 is a byte-identical duplicate and is dropped; three recordings lacked the raw signal file), totalling </a:t>
            </a:r>
            <a:r>
              <a:rPr sz="1800" b="1">
                <a:solidFill>
                  <a:srgbClr val="1A1A1A"/>
                </a:solidFill>
              </a:rPr>
              <a:t>89,532 epochs</a:t>
            </a:r>
            <a:r>
              <a:rPr sz="1800" b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Stage distribution is imbalanced</a:t>
            </a:r>
            <a:r>
              <a:rPr sz="1800" b="0">
                <a:solidFill>
                  <a:srgbClr val="1A1A1A"/>
                </a:solidFill>
              </a:rPr>
              <a:t>: N2 42%, Wake 27%, REM 12%, N1 10%, N3 9%.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Heavy sleep-disordered-breathing burden</a:t>
            </a:r>
            <a:r>
              <a:rPr sz="1800" b="0">
                <a:solidFill>
                  <a:srgbClr val="1A1A1A"/>
                </a:solidFill>
              </a:rPr>
              <a:t>: 16% of epochs carry a scored event; median 13% per patient.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Protocol: ten-fold patient-independent</a:t>
            </a:r>
            <a:r>
              <a:rPr sz="1800" b="0">
                <a:solidFill>
                  <a:srgbClr val="1A1A1A"/>
                </a:solidFill>
              </a:rPr>
              <a:t> cross-validation on a fixed fold assignment.</a:t>
            </a:r>
          </a:p>
        </p:txBody>
      </p:sp>
      <p:pic>
        <p:nvPicPr>
          <p:cNvPr id="5" name="Picture 4" descr="fig_sdb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54480"/>
            <a:ext cx="4297680" cy="29366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55" y="1202838"/>
            <a:ext cx="5909197" cy="5490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Architecture: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Two feature streams.</a:t>
            </a:r>
            <a:r>
              <a:rPr sz="1800" b="0">
                <a:solidFill>
                  <a:srgbClr val="1A1A1A"/>
                </a:solidFill>
              </a:rPr>
              <a:t> Engineered EEG/EOG/EMG features (188) and cardiorespiratory features (14) are each encoded by a two-layer perceptron.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Cross-modal fusion</a:t>
            </a:r>
            <a:r>
              <a:rPr sz="1800" b="0">
                <a:solidFill>
                  <a:srgbClr val="1A1A1A"/>
                </a:solidFill>
              </a:rPr>
              <a:t> combines the two per-epoch embeddings; concatenation is the reported model, attention is an ablation.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Bidirectional LSTM</a:t>
            </a:r>
            <a:r>
              <a:rPr sz="1800" b="0">
                <a:solidFill>
                  <a:srgbClr val="1A1A1A"/>
                </a:solidFill>
              </a:rPr>
              <a:t> reads the night, modelling the sequential structure of sleep.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Two heads.</a:t>
            </a:r>
            <a:r>
              <a:rPr sz="1800" b="0">
                <a:solidFill>
                  <a:srgbClr val="1A1A1A"/>
                </a:solidFill>
              </a:rPr>
              <a:t> A staging head reads the recurrent state; a respiratory head reads it together with a </a:t>
            </a:r>
            <a:r>
              <a:rPr sz="1800" b="1">
                <a:solidFill>
                  <a:srgbClr val="1A1A1A"/>
                </a:solidFill>
              </a:rPr>
              <a:t>direct copy of the cardiorespiratory embedding</a:t>
            </a:r>
            <a:r>
              <a:rPr sz="1800" b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Compact: 0.86M parameters</a:t>
            </a:r>
            <a:r>
              <a:rPr sz="1800" b="0">
                <a:solidFill>
                  <a:srgbClr val="1A1A1A"/>
                </a:solidFill>
              </a:rPr>
              <a:t>, with a hidden-Markov smoothing pass on the staging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Architecture: Why Each Component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Engineered features over raw signal.</a:t>
            </a:r>
            <a:r>
              <a:rPr sz="1800" b="0">
                <a:solidFill>
                  <a:srgbClr val="1A1A1A"/>
                </a:solidFill>
              </a:rPr>
              <a:t> On 96 patients a convolutional network cannot rediscover what decades of sleep science put into the features; a raw model plateaus at 0.65.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Direct cardiorespiratory path to the respiratory head.</a:t>
            </a:r>
            <a:r>
              <a:rPr sz="1800" b="0">
                <a:solidFill>
                  <a:srgbClr val="1A1A1A"/>
                </a:solidFill>
              </a:rPr>
              <a:t> Oxygen-desaturation cues reach the decision without a staging-oriented bottleneck (apnea AUC 0.66 to 0.71).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BiLSTM with hidden-Markov smoothing.</a:t>
            </a:r>
            <a:r>
              <a:rPr sz="1800" b="0">
                <a:solidFill>
                  <a:srgbClr val="1A1A1A"/>
                </a:solidFill>
              </a:rPr>
              <a:t> Sleep transitions are highly structured; the temporal model restores realistic persistence.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Square-root class weighting.</a:t>
            </a:r>
            <a:r>
              <a:rPr sz="1800" b="0">
                <a:solidFill>
                  <a:srgbClr val="1A1A1A"/>
                </a:solidFill>
              </a:rPr>
              <a:t> Corrects the scarce N1 and N3 stages without giving up overall accuracy.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Multi-task training.</a:t>
            </a:r>
            <a:r>
              <a:rPr sz="1800" b="0">
                <a:solidFill>
                  <a:srgbClr val="1A1A1A"/>
                </a:solidFill>
              </a:rPr>
              <a:t> The respiratory head keeps the cardiorespiratory stream load-bearing by construction.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Results: Staging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Deep models built for healthy sleep fail here</a:t>
            </a:r>
            <a:r>
              <a:rPr sz="1800" b="0">
                <a:solidFill>
                  <a:srgbClr val="1A1A1A"/>
                </a:solidFill>
              </a:rPr>
              <a:t>: DeepSleepNet 0.615, CNN-ResNet18 0.617, Raw multimodal CNN 0.655 — each 15 to 20 points below its healthy accuracy.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The proposed model reaches 0.722</a:t>
            </a:r>
            <a:r>
              <a:rPr sz="1800" b="0">
                <a:solidFill>
                  <a:srgbClr val="1A1A1A"/>
                </a:solidFill>
              </a:rPr>
              <a:t>, above every deep baseline, at 0.86M parameters.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Classical pipelines saturate at 0.735 to 0.747</a:t>
            </a:r>
            <a:r>
              <a:rPr sz="1800" b="0">
                <a:solidFill>
                  <a:srgbClr val="1A1A1A"/>
                </a:solidFill>
              </a:rPr>
              <a:t> — staging is capped for every model family, a cohort ceiling.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72% is the cohort ceiling</a:t>
            </a:r>
            <a:r>
              <a:rPr sz="1800" b="0">
                <a:solidFill>
                  <a:srgbClr val="1A1A1A"/>
                </a:solidFill>
              </a:rPr>
              <a:t> — our contribution is the second output, the respiratory read-out.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554480"/>
          <a:ext cx="4937760" cy="3985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2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CNN-ResNet18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~11M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DeepSleepNet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~21M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AttnSleep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~0.5M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CNN + 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~0.6M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Sleep-EDF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~0.6M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Raw multimodal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14 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0.95M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MM-Net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14 ch feat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0.86M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0.721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Results: Modality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Remove each modality, keep the rest</a:t>
            </a:r>
            <a:r>
              <a:rPr sz="1800" b="0">
                <a:solidFill>
                  <a:srgbClr val="1A1A1A"/>
                </a:solidFill>
              </a:rPr>
              <a:t>, on the same folds.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Removing SpO2</a:t>
            </a:r>
            <a:r>
              <a:rPr sz="1800" b="0">
                <a:solidFill>
                  <a:srgbClr val="1A1A1A"/>
                </a:solidFill>
              </a:rPr>
              <a:t> drops respiratory AUC 0.711 to 0.681; </a:t>
            </a:r>
            <a:r>
              <a:rPr sz="1800" b="1">
                <a:solidFill>
                  <a:srgbClr val="1A1A1A"/>
                </a:solidFill>
              </a:rPr>
              <a:t>removing all cardiorespiratory</a:t>
            </a:r>
            <a:r>
              <a:rPr sz="1800" b="0">
                <a:solidFill>
                  <a:srgbClr val="1A1A1A"/>
                </a:solidFill>
              </a:rPr>
              <a:t> drops it to 0.673; staging is unchanged.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Removing EOG</a:t>
            </a:r>
            <a:r>
              <a:rPr sz="1800" b="0">
                <a:solidFill>
                  <a:srgbClr val="1A1A1A"/>
                </a:solidFill>
              </a:rPr>
              <a:t> drops staging 0.722 to 0.712; respiratory detection holds.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Paired Wilcoxon</a:t>
            </a:r>
            <a:r>
              <a:rPr sz="1800" b="0">
                <a:solidFill>
                  <a:srgbClr val="1A1A1A"/>
                </a:solidFill>
              </a:rPr>
              <a:t> confirms the split: cardiorespiratory to respiratory p=0.004, cardiorespiratory to staging p=0.91.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A clean physiological line</a:t>
            </a:r>
            <a:r>
              <a:rPr sz="1800" b="0">
                <a:solidFill>
                  <a:srgbClr val="1A1A1A"/>
                </a:solidFill>
              </a:rPr>
              <a:t>: cardiorespiratory channels carry breathing, neural channels carry stage.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41732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Modality removed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Staging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Resp. AUC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none (full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SpO2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0.681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respiratory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pulse / HRV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airflow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EOG (ocular)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EMG (muscle)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all cardiorespiratory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Results: Respiratory-Event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Headline apnea AUC 0.711</a:t>
            </a:r>
            <a:r>
              <a:rPr sz="1800" b="0">
                <a:solidFill>
                  <a:srgbClr val="1A1A1A"/>
                </a:solidFill>
              </a:rPr>
              <a:t>, average precision 0.337 (event prevalence 0.16).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Beats gradient boosting (0.670) only modestly</a:t>
            </a:r>
            <a:r>
              <a:rPr sz="1800" b="0">
                <a:solidFill>
                  <a:srgbClr val="1A1A1A"/>
                </a:solidFill>
              </a:rPr>
              <a:t> — the contribution is the joint single pass and physiological attribution.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By event type: hypopnea 0.692, obstructive 0.763, central 0.840</a:t>
            </a:r>
            <a:r>
              <a:rPr sz="1800" b="0">
                <a:solidFill>
                  <a:srgbClr val="1A1A1A"/>
                </a:solidFill>
              </a:rPr>
              <a:t> — strongest on the most severe events.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Non-circular</a:t>
            </a:r>
            <a:r>
              <a:rPr sz="1800" b="0">
                <a:solidFill>
                  <a:srgbClr val="1A1A1A"/>
                </a:solidFill>
              </a:rPr>
              <a:t>: removing the airflow channel the events were scored from leaves detection unchanged (0.704).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737360"/>
          <a:ext cx="5120640" cy="2170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Detector (14 cardio feat.)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Desaturation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0.193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0.290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MM-Net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0.711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0.337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420624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 type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F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Hypopnea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0.692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Obstructive apnea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0.763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Central apnea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Results: Clinical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Predicted per-patient burden tracks clinical AHI</a:t>
            </a:r>
            <a:r>
              <a:rPr sz="1800" b="0">
                <a:solidFill>
                  <a:srgbClr val="1A1A1A"/>
                </a:solidFill>
              </a:rPr>
              <a:t> (Spearman rho=0.315, p=0.002, n=96).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Staging degrades with severity</a:t>
            </a:r>
            <a:r>
              <a:rPr sz="1800" b="0">
                <a:solidFill>
                  <a:srgbClr val="1A1A1A"/>
                </a:solidFill>
              </a:rPr>
              <a:t>: accuracy falls from 0.770 (normal AHI) to 0.708 (severe).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The pathology that motivates the second output also makes the first harder</a:t>
            </a:r>
            <a:r>
              <a:rPr sz="1800" b="0">
                <a:solidFill>
                  <a:srgbClr val="1A1A1A"/>
                </a:solidFill>
              </a:rPr>
              <a:t> — the clinical reality of this cohort.</a:t>
            </a:r>
          </a:p>
        </p:txBody>
      </p:sp>
      <p:pic>
        <p:nvPicPr>
          <p:cNvPr id="5" name="Picture 4" descr="fig_a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2651760" cy="2015162"/>
          </a:xfrm>
          <a:prstGeom prst="rect">
            <a:avLst/>
          </a:prstGeom>
        </p:spPr>
      </p:pic>
      <p:pic>
        <p:nvPicPr>
          <p:cNvPr id="6" name="Picture 5" descr="fig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463040"/>
            <a:ext cx="2468880" cy="16735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Results: Learned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Embeddings separate by sleep stage</a:t>
            </a:r>
            <a:r>
              <a:rPr sz="1800" b="0">
                <a:solidFill>
                  <a:srgbClr val="1A1A1A"/>
                </a:solidFill>
              </a:rPr>
              <a:t> (t-SNE); the respiratory structure is diffuse, matching the modest AUC.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Errors concentrate on N1</a:t>
            </a:r>
            <a:r>
              <a:rPr sz="1800" b="0">
                <a:solidFill>
                  <a:srgbClr val="1A1A1A"/>
                </a:solidFill>
              </a:rPr>
              <a:t>, the rare, transient stage that is hard field-wide.</a:t>
            </a:r>
          </a:p>
        </p:txBody>
      </p:sp>
      <p:pic>
        <p:nvPicPr>
          <p:cNvPr id="5" name="Picture 4" descr="fig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2388005"/>
          </a:xfrm>
          <a:prstGeom prst="rect">
            <a:avLst/>
          </a:prstGeom>
        </p:spPr>
      </p:pic>
      <p:pic>
        <p:nvPicPr>
          <p:cNvPr id="6" name="Picture 5" descr="fig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0"/>
            <a:ext cx="3291840" cy="2775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Results: A Whole Night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hyp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7355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55448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sz="1500" b="1">
                <a:solidFill>
                  <a:srgbClr val="1A1A1A"/>
                </a:solidFill>
              </a:rPr>
              <a:t>Predicted hypnogram follows the reference</a:t>
            </a:r>
            <a:r>
              <a:rPr sz="1500" b="0">
                <a:solidFill>
                  <a:srgbClr val="1A1A1A"/>
                </a:solidFill>
              </a:rPr>
              <a:t> through the night's cycles, on a held-out patient.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sz="1500" b="1">
                <a:solidFill>
                  <a:srgbClr val="1A1A1A"/>
                </a:solidFill>
              </a:rPr>
              <a:t>The spectrogram</a:t>
            </a:r>
            <a:r>
              <a:rPr sz="1500" b="0">
                <a:solidFill>
                  <a:srgbClr val="1A1A1A"/>
                </a:solidFill>
              </a:rPr>
              <a:t> shows deep sleep as low-frequency power, aligned with the staged N3 periods.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sz="1500" b="1">
                <a:solidFill>
                  <a:srgbClr val="1A1A1A"/>
                </a:solidFill>
              </a:rPr>
              <a:t>The stage-probability ribbon</a:t>
            </a:r>
            <a:r>
              <a:rPr sz="1500" b="0">
                <a:solidFill>
                  <a:srgbClr val="1A1A1A"/>
                </a:solidFill>
              </a:rPr>
              <a:t> exposes the model's confidence; it dips exactly at stage transitions.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sz="1500" b="1">
                <a:solidFill>
                  <a:srgbClr val="1A1A1A"/>
                </a:solidFill>
              </a:rPr>
              <a:t>A qualitative check</a:t>
            </a:r>
            <a:r>
              <a:rPr sz="1500" b="0">
                <a:solidFill>
                  <a:srgbClr val="1A1A1A"/>
                </a:solidFill>
              </a:rPr>
              <a:t> that the model tracks real sleep architecture across the whole night.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F5C8A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2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Healthy-sleep deep learning fails on the injured brain</a:t>
            </a:r>
            <a:r>
              <a:rPr sz="1800" b="0">
                <a:solidFill>
                  <a:srgbClr val="1A1A1A"/>
                </a:solidFill>
              </a:rPr>
              <a:t>; this cohort requires cohort-specific, physiologically grounded, multimodal modelling.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One compact model (0.86M) stages sleep and detects respiratory events</a:t>
            </a:r>
            <a:r>
              <a:rPr sz="1800" b="0">
                <a:solidFill>
                  <a:srgbClr val="1A1A1A"/>
                </a:solidFill>
              </a:rPr>
              <a:t> from a single pass over the recording.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Attribution is causal</a:t>
            </a:r>
            <a:r>
              <a:rPr sz="1800" b="0">
                <a:solidFill>
                  <a:srgbClr val="1A1A1A"/>
                </a:solidFill>
              </a:rPr>
              <a:t>: the modality-ablation grid shows each channel carries the task its physiology governs.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</a:t>
            </a:r>
            <a:r>
              <a:rPr sz="1800" b="1">
                <a:solidFill>
                  <a:srgbClr val="1A1A1A"/>
                </a:solidFill>
              </a:rPr>
              <a:t>The respiratory read-out is non-circular</a:t>
            </a:r>
            <a:r>
              <a:rPr sz="1800" b="0">
                <a:solidFill>
                  <a:srgbClr val="1A1A1A"/>
                </a:solidFill>
              </a:rPr>
              <a:t> (survives airflow removal) and </a:t>
            </a:r>
            <a:r>
              <a:rPr sz="1800" b="1">
                <a:solidFill>
                  <a:srgbClr val="1A1A1A"/>
                </a:solidFill>
              </a:rPr>
              <a:t>clinically anchored</a:t>
            </a:r>
            <a:r>
              <a:rPr sz="1800" b="0">
                <a:solidFill>
                  <a:srgbClr val="1A1A1A"/>
                </a:solidFill>
              </a:rPr>
              <a:t> (tracks AHI).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1141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Wahiduzzaman Suva</cp:lastModifiedBy>
  <cp:revision>2</cp:revision>
  <dcterms:created xsi:type="dcterms:W3CDTF">2013-01-27T09:14:16Z</dcterms:created>
  <dcterms:modified xsi:type="dcterms:W3CDTF">2026-08-06T07:41:30Z</dcterms:modified>
  <cp:category/>
</cp:coreProperties>
</file>